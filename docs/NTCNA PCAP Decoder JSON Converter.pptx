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1" r:id="rId3"/>
    <p:sldId id="272" r:id="rId4"/>
    <p:sldId id="262" r:id="rId5"/>
    <p:sldId id="279" r:id="rId6"/>
    <p:sldId id="263" r:id="rId7"/>
    <p:sldId id="264" r:id="rId8"/>
    <p:sldId id="265" r:id="rId9"/>
    <p:sldId id="266" r:id="rId10"/>
    <p:sldId id="268" r:id="rId11"/>
    <p:sldId id="282" r:id="rId12"/>
    <p:sldId id="259" r:id="rId13"/>
    <p:sldId id="257" r:id="rId14"/>
    <p:sldId id="258" r:id="rId15"/>
    <p:sldId id="261" r:id="rId16"/>
    <p:sldId id="280" r:id="rId17"/>
    <p:sldId id="278" r:id="rId18"/>
    <p:sldId id="277" r:id="rId19"/>
    <p:sldId id="260" r:id="rId20"/>
    <p:sldId id="275" r:id="rId21"/>
    <p:sldId id="274" r:id="rId22"/>
    <p:sldId id="269" r:id="rId23"/>
    <p:sldId id="270" r:id="rId24"/>
    <p:sldId id="271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9FDDBB4-8896-4F77-9F03-3CC621D3AE13}">
          <p14:sldIdLst>
            <p14:sldId id="256"/>
            <p14:sldId id="281"/>
          </p14:sldIdLst>
        </p14:section>
        <p14:section name="Formats" id="{6FC4C30C-A83A-4165-AC3D-6AB6FE8C2B3F}">
          <p14:sldIdLst>
            <p14:sldId id="272"/>
            <p14:sldId id="262"/>
            <p14:sldId id="279"/>
            <p14:sldId id="263"/>
            <p14:sldId id="264"/>
            <p14:sldId id="265"/>
            <p14:sldId id="266"/>
            <p14:sldId id="268"/>
          </p14:sldIdLst>
        </p14:section>
        <p14:section name="Python Application" id="{9EE09BE6-FBFE-4EFA-9CBD-0C58F067CA20}">
          <p14:sldIdLst>
            <p14:sldId id="282"/>
            <p14:sldId id="259"/>
            <p14:sldId id="257"/>
            <p14:sldId id="258"/>
            <p14:sldId id="261"/>
          </p14:sldIdLst>
        </p14:section>
        <p14:section name="Building" id="{261C5C7A-80BB-4CE7-8A69-1DEC67BFEDA6}">
          <p14:sldIdLst>
            <p14:sldId id="280"/>
            <p14:sldId id="278"/>
            <p14:sldId id="277"/>
            <p14:sldId id="260"/>
          </p14:sldIdLst>
        </p14:section>
        <p14:section name="Other Tools" id="{028B1392-C0CE-4136-A5CB-E92D2F66274A}">
          <p14:sldIdLst>
            <p14:sldId id="275"/>
            <p14:sldId id="274"/>
          </p14:sldIdLst>
        </p14:section>
        <p14:section name="Appendix" id="{E3594807-3B32-4F9C-8A9D-F0FDB11BAB6B}">
          <p14:sldIdLst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EDAB58-B906-411E-9D91-6BAABBB96999}" v="2" dt="2026-05-29T15:28:25.9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604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obert, Neal" userId="98c4c672-1172-41de-9d15-fdfbd07628b8" providerId="ADAL" clId="{B6305F56-46C4-4909-B934-8F188AFC8DB3}"/>
    <pc:docChg chg="custSel modSld">
      <pc:chgData name="Probert, Neal" userId="98c4c672-1172-41de-9d15-fdfbd07628b8" providerId="ADAL" clId="{B6305F56-46C4-4909-B934-8F188AFC8DB3}" dt="2026-05-29T15:30:08.883" v="174" actId="20577"/>
      <pc:docMkLst>
        <pc:docMk/>
      </pc:docMkLst>
      <pc:sldChg chg="modSp mod">
        <pc:chgData name="Probert, Neal" userId="98c4c672-1172-41de-9d15-fdfbd07628b8" providerId="ADAL" clId="{B6305F56-46C4-4909-B934-8F188AFC8DB3}" dt="2026-05-29T15:30:08.883" v="174" actId="20577"/>
        <pc:sldMkLst>
          <pc:docMk/>
          <pc:sldMk cId="3864939115" sldId="259"/>
        </pc:sldMkLst>
        <pc:spChg chg="mod">
          <ac:chgData name="Probert, Neal" userId="98c4c672-1172-41de-9d15-fdfbd07628b8" providerId="ADAL" clId="{B6305F56-46C4-4909-B934-8F188AFC8DB3}" dt="2026-05-29T15:30:08.883" v="174" actId="20577"/>
          <ac:spMkLst>
            <pc:docMk/>
            <pc:sldMk cId="3864939115" sldId="259"/>
            <ac:spMk id="3" creationId="{7B3AF8DF-B285-4E50-B41B-20B540976AC0}"/>
          </ac:spMkLst>
        </pc:spChg>
      </pc:sldChg>
      <pc:sldChg chg="modSp mod modShow">
        <pc:chgData name="Probert, Neal" userId="98c4c672-1172-41de-9d15-fdfbd07628b8" providerId="ADAL" clId="{B6305F56-46C4-4909-B934-8F188AFC8DB3}" dt="2026-05-29T15:27:18.914" v="1" actId="14100"/>
        <pc:sldMkLst>
          <pc:docMk/>
          <pc:sldMk cId="1537710732" sldId="264"/>
        </pc:sldMkLst>
        <pc:spChg chg="mod">
          <ac:chgData name="Probert, Neal" userId="98c4c672-1172-41de-9d15-fdfbd07628b8" providerId="ADAL" clId="{B6305F56-46C4-4909-B934-8F188AFC8DB3}" dt="2026-05-29T15:27:18.914" v="1" actId="14100"/>
          <ac:spMkLst>
            <pc:docMk/>
            <pc:sldMk cId="1537710732" sldId="264"/>
            <ac:spMk id="5" creationId="{3D9B3A6B-64A8-4E7B-BC6B-7EF601318D20}"/>
          </ac:spMkLst>
        </pc:spChg>
      </pc:sldChg>
      <pc:sldChg chg="modSp mod">
        <pc:chgData name="Probert, Neal" userId="98c4c672-1172-41de-9d15-fdfbd07628b8" providerId="ADAL" clId="{B6305F56-46C4-4909-B934-8F188AFC8DB3}" dt="2026-05-29T15:27:34.315" v="4" actId="20577"/>
        <pc:sldMkLst>
          <pc:docMk/>
          <pc:sldMk cId="1159121442" sldId="265"/>
        </pc:sldMkLst>
        <pc:spChg chg="mod">
          <ac:chgData name="Probert, Neal" userId="98c4c672-1172-41de-9d15-fdfbd07628b8" providerId="ADAL" clId="{B6305F56-46C4-4909-B934-8F188AFC8DB3}" dt="2026-05-29T15:27:34.315" v="4" actId="20577"/>
          <ac:spMkLst>
            <pc:docMk/>
            <pc:sldMk cId="1159121442" sldId="265"/>
            <ac:spMk id="5" creationId="{3D9B3A6B-64A8-4E7B-BC6B-7EF601318D20}"/>
          </ac:spMkLst>
        </pc:spChg>
      </pc:sldChg>
      <pc:sldChg chg="modSp mod">
        <pc:chgData name="Probert, Neal" userId="98c4c672-1172-41de-9d15-fdfbd07628b8" providerId="ADAL" clId="{B6305F56-46C4-4909-B934-8F188AFC8DB3}" dt="2026-05-29T15:28:46.541" v="52" actId="115"/>
        <pc:sldMkLst>
          <pc:docMk/>
          <pc:sldMk cId="1090984274" sldId="282"/>
        </pc:sldMkLst>
        <pc:spChg chg="mod">
          <ac:chgData name="Probert, Neal" userId="98c4c672-1172-41de-9d15-fdfbd07628b8" providerId="ADAL" clId="{B6305F56-46C4-4909-B934-8F188AFC8DB3}" dt="2026-05-29T15:28:46.541" v="52" actId="115"/>
          <ac:spMkLst>
            <pc:docMk/>
            <pc:sldMk cId="1090984274" sldId="282"/>
            <ac:spMk id="3" creationId="{6A12F0BC-D49E-4916-CAE4-7321657F888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8F5C6-2EBC-46B0-BEB9-0502105C20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9242E8-2774-42BA-805F-DBD2B9259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CAB903-52EE-4325-95EC-2FC43F03F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96AD3-49F6-43A9-865E-438AB34BF1F7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A8DEBB-91F3-49D3-99AE-031C8F0BF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E5669E-A8F9-457A-93B1-21B2D7570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0A13A-AC87-431A-AAFA-56F1E2C309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069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4ED8D-AA12-450E-B505-567622DB4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78D8F-19F9-4813-AD8C-41B9A436A3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536B94-E844-4F98-8DD0-5175E48F5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96AD3-49F6-43A9-865E-438AB34BF1F7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7D54A4-381E-4C78-9B19-25F794069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8913A2-3A15-4D04-B108-87459180D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0A13A-AC87-431A-AAFA-56F1E2C309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106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8B8CE-D12B-4D90-8842-D7FECC4F6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4F5428-8B97-492D-B34B-7EF842ED05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625653-361B-4839-B801-B8FBAD87C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96AD3-49F6-43A9-865E-438AB34BF1F7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F6B326-6E12-4D30-8478-AB4079B1D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89A274-6B43-4631-9D6D-EFD6CF2F7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0A13A-AC87-431A-AAFA-56F1E2C309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582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EAF89-68F9-40FC-A245-ECB8FFE2B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E2B7E-E4AF-4860-8923-60025B3112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30E032-E858-4472-A090-F9CF1C0024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ED7CB9-3A03-47F5-B430-F5745067C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96AD3-49F6-43A9-865E-438AB34BF1F7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95C7E7-D5D3-4F18-8A9A-AC3838CA9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DF094F-1A64-4510-9833-F2B1E608F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0A13A-AC87-431A-AAFA-56F1E2C309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762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5141F-C566-4A18-8472-51ADE4223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D36FE9-6BB0-436A-8377-90E387AD70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088E7C-17F6-4D7F-9CA3-E830867493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9FA073-06E0-4011-950C-C9068C4264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84BCC6-58CB-494D-A121-3183046403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3772B2-B6E5-45D1-A8A4-76E8ACB24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96AD3-49F6-43A9-865E-438AB34BF1F7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CB3B95-471B-45FF-ADEC-BE0CA6572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E54FF6-5C70-4A62-9066-990183AA1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0A13A-AC87-431A-AAFA-56F1E2C309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280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FBF79-AA79-41CA-BF65-F1858139E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E84D50-92CF-49EF-8F18-A444750C8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96AD3-49F6-43A9-865E-438AB34BF1F7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E85A25-12AC-43B0-B20C-A20194B09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36000E-C4CB-48AA-8699-9ADC2A7EA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0A13A-AC87-431A-AAFA-56F1E2C309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151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73F0AD-08FC-4603-901D-FCB38F837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96AD3-49F6-43A9-865E-438AB34BF1F7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B2A9DB-0347-4F57-B699-CA90733C4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6D7B4-310C-46BD-AF71-49959B4F5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0A13A-AC87-431A-AAFA-56F1E2C309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070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46F54-1B02-4ABC-9E98-74A748915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00B91-7331-4D62-9408-ABBB0BE9B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5FE48F-BDC0-41F0-8DB6-6BF42B7282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F6A18F-0B93-49D5-96F0-287C5F609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96AD3-49F6-43A9-865E-438AB34BF1F7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416D12-8000-41AB-8886-B435D1F09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D43C20-2BC4-427A-8B0E-0E614AF63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0A13A-AC87-431A-AAFA-56F1E2C309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341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DDC7D-D2F0-44C0-927E-8B5C0C72F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95B8A9-D239-498F-88EA-22E6A8FE95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542DF7-B0BA-43BD-84A5-9E6F43F1B1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7B81D6-C325-4630-9E1D-2D0DFB2C7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96AD3-49F6-43A9-865E-438AB34BF1F7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917AC6-FA1C-41AD-81B5-A61479C62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A1C7F6-D8FD-44C7-AC30-506616B82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0A13A-AC87-431A-AAFA-56F1E2C309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540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51894-1662-498B-907F-7E37C1BCC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B29748-B115-461B-A15E-70131D5C94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472671-F60F-4795-864F-6A7A6F3CC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96AD3-49F6-43A9-865E-438AB34BF1F7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FF175A-732B-43F1-8AD4-0192CEB4B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BBA54A-DC01-4ED1-8BD1-5D8C0C379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0A13A-AC87-431A-AAFA-56F1E2C309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406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CE05BC-177E-4368-9FCA-203294EE97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65D2B7-B605-4B9C-B0B9-9D045336AF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BD8382-8F88-4177-94E3-F5AA3E52E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96AD3-49F6-43A9-865E-438AB34BF1F7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5CA180-DAE2-4DDE-8234-7A1474E87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BE163C-7CE9-46C7-8024-03574306C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0A13A-AC87-431A-AAFA-56F1E2C309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499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52977F-1FFB-40DD-95D0-299F678CA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4BD3B1-B81B-4934-9C92-85F779BAD1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66CCF1-119C-4585-8A1E-F97F6B2B5D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D96AD3-49F6-43A9-865E-438AB34BF1F7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471AB2-960B-4B22-9B05-784CE4FD40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704A67-92CB-4D5D-A4C2-D0EE18ED5D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50A13A-AC87-431A-AAFA-56F1E2C309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492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v2x.probestar.com/wiki/index.php/J2735_Tools" TargetMode="External"/><Relationship Id="rId2" Type="http://schemas.openxmlformats.org/officeDocument/2006/relationships/hyperlink" Target="https://github.com/P1sec/pycrate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v2x.probestar.com/j2735_tools/" TargetMode="External"/><Relationship Id="rId4" Type="http://schemas.openxmlformats.org/officeDocument/2006/relationships/hyperlink" Target="https://github.com/nprobert/j2735_tools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nprobert/j2735_tools" TargetMode="Externa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v2x.probestar.com/j2735_tools/" TargetMode="External"/><Relationship Id="rId2" Type="http://schemas.openxmlformats.org/officeDocument/2006/relationships/hyperlink" Target="https://www.python.org/downloads/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1sec/pycrate" TargetMode="External"/><Relationship Id="rId2" Type="http://schemas.openxmlformats.org/officeDocument/2006/relationships/hyperlink" Target="https://scapy.net/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nprobert/Wireshark-J2735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B5FBC-037A-44F2-8037-494724FF3A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NTCNA V2 V2X OTA</a:t>
            </a:r>
            <a:br>
              <a:rPr lang="en-US" dirty="0"/>
            </a:br>
            <a:r>
              <a:rPr lang="en-US" dirty="0"/>
              <a:t>PCAP Format Decoding to JSON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0E7323-1EA1-4275-B0EC-5F25EC4B88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Originally Developed by Nissan NTCNA for CAMP, CI and CTI Projects</a:t>
            </a:r>
          </a:p>
          <a:p>
            <a:r>
              <a:rPr lang="en-US" dirty="0"/>
              <a:t>Python application to convert PCAP data to JSON format</a:t>
            </a:r>
          </a:p>
          <a:p>
            <a:r>
              <a:rPr lang="en-US" dirty="0"/>
              <a:t>Neal Probert, Senior Cybersecurity Engineer, Nissan</a:t>
            </a:r>
          </a:p>
        </p:txBody>
      </p:sp>
    </p:spTree>
    <p:extLst>
      <p:ext uri="{BB962C8B-B14F-4D97-AF65-F5344CB8AC3E}">
        <p14:creationId xmlns:p14="http://schemas.microsoft.com/office/powerpoint/2010/main" val="4073691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72535-58E4-B7DC-7894-E1ECDEE51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55625"/>
          </a:xfrm>
        </p:spPr>
        <p:txBody>
          <a:bodyPr>
            <a:normAutofit fontScale="90000"/>
          </a:bodyPr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20A415-1B58-339F-C4C2-2FF7B6E4E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20750"/>
            <a:ext cx="10515600" cy="5689600"/>
          </a:xfrm>
        </p:spPr>
        <p:txBody>
          <a:bodyPr>
            <a:noAutofit/>
          </a:bodyPr>
          <a:lstStyle/>
          <a:p>
            <a:r>
              <a:rPr lang="en-US" dirty="0"/>
              <a:t>Work</a:t>
            </a:r>
          </a:p>
          <a:p>
            <a:pPr lvl="1"/>
            <a:r>
              <a:rPr lang="en-US" dirty="0"/>
              <a:t>The work done to date has been done by me, as part of Nissan for the CAMP and SAE projects including CI and CTI.</a:t>
            </a:r>
          </a:p>
          <a:p>
            <a:pPr lvl="1"/>
            <a:r>
              <a:rPr lang="en-US" dirty="0"/>
              <a:t>Maintained it mostly for Jay Parikh’s MAP/SPAT Analysis application.</a:t>
            </a:r>
          </a:p>
          <a:p>
            <a:pPr lvl="1"/>
            <a:r>
              <a:rPr lang="en-US" dirty="0"/>
              <a:t>It’s public because CAMP has disappeared and Nissan doesn’t care.</a:t>
            </a:r>
          </a:p>
          <a:p>
            <a:r>
              <a:rPr lang="en-US" dirty="0"/>
              <a:t>Baseline</a:t>
            </a:r>
          </a:p>
          <a:p>
            <a:pPr lvl="1"/>
            <a:r>
              <a:rPr lang="en-US" dirty="0"/>
              <a:t>The DENSO/Cohda protocol is the most common format and while it contains the essential WSMP, 1609.2 and J2735 layers</a:t>
            </a:r>
          </a:p>
          <a:p>
            <a:r>
              <a:rPr lang="en-US" dirty="0"/>
              <a:t> Plan</a:t>
            </a:r>
          </a:p>
          <a:p>
            <a:pPr lvl="1"/>
            <a:r>
              <a:rPr lang="en-US" dirty="0"/>
              <a:t>Add the radio details that would be most useful (</a:t>
            </a:r>
            <a:r>
              <a:rPr lang="en-US" dirty="0" err="1"/>
              <a:t>Radiotap</a:t>
            </a:r>
            <a:r>
              <a:rPr lang="en-US" dirty="0"/>
              <a:t> layer)</a:t>
            </a:r>
          </a:p>
          <a:p>
            <a:pPr lvl="1"/>
            <a:r>
              <a:rPr lang="en-US" dirty="0"/>
              <a:t>Add the Layer 2 information</a:t>
            </a:r>
          </a:p>
        </p:txBody>
      </p:sp>
    </p:spTree>
    <p:extLst>
      <p:ext uri="{BB962C8B-B14F-4D97-AF65-F5344CB8AC3E}">
        <p14:creationId xmlns:p14="http://schemas.microsoft.com/office/powerpoint/2010/main" val="29732110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71F81-9870-4EFB-85F5-C249461974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V2X PCAP Recording Rules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303977-50C6-410A-A1BC-595E2E6384C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Capturing radio data for conversion and analysis</a:t>
            </a:r>
          </a:p>
        </p:txBody>
      </p:sp>
    </p:spTree>
    <p:extLst>
      <p:ext uri="{BB962C8B-B14F-4D97-AF65-F5344CB8AC3E}">
        <p14:creationId xmlns:p14="http://schemas.microsoft.com/office/powerpoint/2010/main" val="1004140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5C92F-F457-424A-9DE0-7926F7D2C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62486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Standardizing how we capture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25ED7C-0BF5-4EF3-922D-A8B658AF1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7612"/>
            <a:ext cx="10515600" cy="5686697"/>
          </a:xfrm>
        </p:spPr>
        <p:txBody>
          <a:bodyPr>
            <a:normAutofit fontScale="92500" lnSpcReduction="20000"/>
          </a:bodyPr>
          <a:lstStyle/>
          <a:p>
            <a:r>
              <a:rPr lang="en-US" sz="2000" dirty="0"/>
              <a:t>We are getting different formats from different OBU/RSU radio vendors</a:t>
            </a:r>
          </a:p>
          <a:p>
            <a:pPr lvl="1"/>
            <a:r>
              <a:rPr lang="en-US" sz="1800" dirty="0"/>
              <a:t>Complicates our efforts, but some vendors have agreed on (preferred) 0x88DC PCAP format</a:t>
            </a:r>
          </a:p>
          <a:p>
            <a:pPr lvl="1"/>
            <a:r>
              <a:rPr lang="en-US" sz="1800" dirty="0"/>
              <a:t>Additional formats supported: </a:t>
            </a:r>
            <a:r>
              <a:rPr lang="en-US" sz="1800" dirty="0" err="1"/>
              <a:t>eTrans</a:t>
            </a:r>
            <a:r>
              <a:rPr lang="en-US" sz="1800" dirty="0"/>
              <a:t>, Linux Cooked, </a:t>
            </a:r>
            <a:r>
              <a:rPr lang="en-US" sz="1800" dirty="0" err="1"/>
              <a:t>Radiotap</a:t>
            </a:r>
            <a:r>
              <a:rPr lang="en-US" sz="1800" dirty="0"/>
              <a:t>, Tazman, </a:t>
            </a:r>
            <a:r>
              <a:rPr lang="en-US" sz="1800" dirty="0" err="1"/>
              <a:t>Mcity</a:t>
            </a:r>
            <a:r>
              <a:rPr lang="en-US" sz="1800" dirty="0"/>
              <a:t> TSCBM, RSU IFM, over IPv4/6 UDP</a:t>
            </a:r>
          </a:p>
          <a:p>
            <a:r>
              <a:rPr lang="en-US" sz="2000" dirty="0"/>
              <a:t>PCAP or </a:t>
            </a:r>
            <a:r>
              <a:rPr lang="en-US" sz="2000" dirty="0" err="1"/>
              <a:t>PCAPng</a:t>
            </a:r>
            <a:endParaRPr lang="en-US" sz="2000" dirty="0"/>
          </a:p>
          <a:p>
            <a:pPr lvl="1"/>
            <a:r>
              <a:rPr lang="en-US" sz="1800" dirty="0"/>
              <a:t>Either is fine and will work</a:t>
            </a:r>
          </a:p>
          <a:p>
            <a:r>
              <a:rPr lang="en-US" sz="2000" dirty="0"/>
              <a:t>Avoid weird encodings of data in PCAP file</a:t>
            </a:r>
          </a:p>
          <a:p>
            <a:pPr lvl="1"/>
            <a:r>
              <a:rPr lang="en-US" sz="1800" dirty="0"/>
              <a:t>IPv4/IPv6 layer without Ethernet layer</a:t>
            </a:r>
          </a:p>
          <a:p>
            <a:pPr lvl="1"/>
            <a:r>
              <a:rPr lang="en-US" sz="1800" dirty="0"/>
              <a:t>Missing 1609.2 layers</a:t>
            </a:r>
          </a:p>
          <a:p>
            <a:r>
              <a:rPr lang="en-US" sz="2000" dirty="0"/>
              <a:t>Full radio stack capture (complex)</a:t>
            </a:r>
          </a:p>
          <a:p>
            <a:pPr lvl="1"/>
            <a:r>
              <a:rPr lang="en-US" sz="1800" dirty="0"/>
              <a:t>DSRC stacks (based on 802.11p), including 1609.3 WSMP layer</a:t>
            </a:r>
          </a:p>
          <a:p>
            <a:pPr lvl="1"/>
            <a:r>
              <a:rPr lang="en-US" sz="1800" dirty="0"/>
              <a:t>C-V2X stacks not supported at this time</a:t>
            </a:r>
          </a:p>
          <a:p>
            <a:r>
              <a:rPr lang="en-US" sz="2200" dirty="0"/>
              <a:t>Single stream logging</a:t>
            </a:r>
          </a:p>
          <a:p>
            <a:pPr lvl="1"/>
            <a:r>
              <a:rPr lang="en-US" sz="1800" dirty="0"/>
              <a:t>Need to separate RX and TX streams</a:t>
            </a:r>
          </a:p>
          <a:p>
            <a:r>
              <a:rPr lang="en-US" sz="2000" dirty="0"/>
              <a:t>UDP dump of 1609.2 and J2735 data (simpler)</a:t>
            </a:r>
          </a:p>
          <a:p>
            <a:pPr lvl="1"/>
            <a:r>
              <a:rPr lang="en-US" sz="1800" dirty="0"/>
              <a:t>Even if unsigned, include the 1609.2 layer!</a:t>
            </a:r>
          </a:p>
          <a:p>
            <a:r>
              <a:rPr lang="en-US" sz="2000" dirty="0"/>
              <a:t>Once we get to J2735 layer, we can decode it</a:t>
            </a:r>
          </a:p>
          <a:p>
            <a:pPr lvl="1"/>
            <a:r>
              <a:rPr lang="en-US" sz="1800" dirty="0"/>
              <a:t>Using ASN.1 compiler tools (C/C++/Java/Python/Rust?), some output to JSON</a:t>
            </a:r>
          </a:p>
          <a:p>
            <a:pPr lvl="1"/>
            <a:r>
              <a:rPr lang="en-US" sz="1800" dirty="0"/>
              <a:t>Import JSON into big data science tools like Pandas and/or Anaconda, even Snowflake</a:t>
            </a:r>
          </a:p>
          <a:p>
            <a:r>
              <a:rPr lang="en-US" sz="2000" dirty="0"/>
              <a:t>Useful for both debugging, analysis, and certification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3100624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08A37-C8F0-833C-8159-B04857283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9FBEA-C03E-0A08-CAF2-4695849A8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894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PCAP 0x88DC </a:t>
            </a:r>
            <a:r>
              <a:rPr lang="en-US" b="1" dirty="0" err="1"/>
              <a:t>Ethertype</a:t>
            </a:r>
            <a:endParaRPr lang="en-US" b="1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E699904-F82E-E4EB-BA14-44F17BE35F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45466437"/>
              </p:ext>
            </p:extLst>
          </p:nvPr>
        </p:nvGraphicFramePr>
        <p:xfrm>
          <a:off x="838200" y="1076687"/>
          <a:ext cx="10515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013481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360325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Network Layers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Network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49410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Ethernet Frame 0x88DC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Ethernet packet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1324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WSMP 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WSMP –N header –T header message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22697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1609.2 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Security signage (even if unsigned)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9687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J2735 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BSM, MAP, SPAT, RTCM, 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0011890"/>
                  </a:ext>
                </a:extLst>
              </a:tr>
            </a:tbl>
          </a:graphicData>
        </a:graphic>
      </p:graphicFrame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EF09ABC-1283-EC30-1742-B5092600CF8F}"/>
              </a:ext>
            </a:extLst>
          </p:cNvPr>
          <p:cNvSpPr txBox="1">
            <a:spLocks/>
          </p:cNvSpPr>
          <p:nvPr/>
        </p:nvSpPr>
        <p:spPr>
          <a:xfrm>
            <a:off x="838200" y="3110753"/>
            <a:ext cx="10515600" cy="33821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As used by </a:t>
            </a:r>
            <a:r>
              <a:rPr lang="en-US" dirty="0" err="1"/>
              <a:t>Cohda</a:t>
            </a:r>
            <a:r>
              <a:rPr lang="en-US" dirty="0"/>
              <a:t> and DENSO, preferred format</a:t>
            </a:r>
          </a:p>
          <a:p>
            <a:r>
              <a:rPr lang="en-US" dirty="0"/>
              <a:t>Contains WSMP, 1609.2 and J2735 layers</a:t>
            </a:r>
          </a:p>
          <a:p>
            <a:r>
              <a:rPr lang="en-US" dirty="0"/>
              <a:t>Simplest format</a:t>
            </a:r>
          </a:p>
          <a:p>
            <a:r>
              <a:rPr lang="en-US" dirty="0"/>
              <a:t>Suggest adding </a:t>
            </a:r>
            <a:r>
              <a:rPr lang="en-US" dirty="0" err="1"/>
              <a:t>Radiotap</a:t>
            </a:r>
            <a:r>
              <a:rPr lang="en-US" dirty="0"/>
              <a:t> layer and Layer 2 information</a:t>
            </a:r>
          </a:p>
        </p:txBody>
      </p:sp>
    </p:spTree>
    <p:extLst>
      <p:ext uri="{BB962C8B-B14F-4D97-AF65-F5344CB8AC3E}">
        <p14:creationId xmlns:p14="http://schemas.microsoft.com/office/powerpoint/2010/main" val="31053342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9214B-F069-47FF-8DC1-FD9166FD7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894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Full Radio Stack Capture (DSRC)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EB304E13-7241-48F0-B5E5-4FB8B3611B5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076687"/>
          <a:ext cx="105156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013481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360325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Network Layers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Network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49410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Radiotap</a:t>
                      </a:r>
                      <a:r>
                        <a:rPr lang="en-US" dirty="0"/>
                        <a:t> (optional)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Radio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1324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802.11 QoS 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Provides 802.11 information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10288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LLC 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Indicates WSMP layer (0x88dc)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0305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WSMP 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WSMP –N header, –T header and message: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79652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1609.2 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Security signage (even if unsigned)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22697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J2735 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BSM, MAP, SPAT, RTCM, 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0011890"/>
                  </a:ext>
                </a:extLst>
              </a:tr>
            </a:tbl>
          </a:graphicData>
        </a:graphic>
      </p:graphicFrame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D9B3A6B-64A8-4E7B-BC6B-7EF601318D20}"/>
              </a:ext>
            </a:extLst>
          </p:cNvPr>
          <p:cNvSpPr txBox="1">
            <a:spLocks/>
          </p:cNvSpPr>
          <p:nvPr/>
        </p:nvSpPr>
        <p:spPr>
          <a:xfrm>
            <a:off x="838200" y="3765184"/>
            <a:ext cx="10515600" cy="2727690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Used by older DSRC based OBUs for CAMP projects</a:t>
            </a:r>
          </a:p>
          <a:p>
            <a:r>
              <a:rPr lang="en-US" dirty="0"/>
              <a:t>Captured at network interface</a:t>
            </a:r>
          </a:p>
          <a:p>
            <a:pPr lvl="1"/>
            <a:r>
              <a:rPr lang="en-US" dirty="0"/>
              <a:t>Using </a:t>
            </a:r>
            <a:r>
              <a:rPr lang="en-US" dirty="0" err="1"/>
              <a:t>tcpdump</a:t>
            </a:r>
            <a:r>
              <a:rPr lang="en-US" dirty="0"/>
              <a:t>, </a:t>
            </a:r>
            <a:r>
              <a:rPr lang="en-US" dirty="0" err="1"/>
              <a:t>wireshark</a:t>
            </a:r>
            <a:r>
              <a:rPr lang="en-US" dirty="0"/>
              <a:t> or similar tool</a:t>
            </a:r>
          </a:p>
          <a:p>
            <a:r>
              <a:rPr lang="en-US" dirty="0"/>
              <a:t>PCAP contents can be forwarded over UDP</a:t>
            </a:r>
          </a:p>
          <a:p>
            <a:pPr lvl="1"/>
            <a:r>
              <a:rPr lang="en-US" dirty="0"/>
              <a:t>Receiver application writes data to PCAP file</a:t>
            </a:r>
          </a:p>
          <a:p>
            <a:pPr lvl="1"/>
            <a:r>
              <a:rPr lang="en-US" dirty="0"/>
              <a:t>Add </a:t>
            </a:r>
            <a:r>
              <a:rPr lang="en-US" dirty="0" err="1"/>
              <a:t>Radiotap</a:t>
            </a:r>
            <a:r>
              <a:rPr lang="en-US" dirty="0"/>
              <a:t> layer for radio information to help debug radio</a:t>
            </a:r>
          </a:p>
          <a:p>
            <a:r>
              <a:rPr lang="en-US" dirty="0"/>
              <a:t>Please do not write hand coded PCAPs that don’t follow the rules</a:t>
            </a:r>
          </a:p>
          <a:p>
            <a:r>
              <a:rPr lang="en-US" dirty="0"/>
              <a:t>Separating TX and RX data into separate PCAPs makes analysis easier</a:t>
            </a:r>
          </a:p>
          <a:p>
            <a:pPr lvl="1"/>
            <a:r>
              <a:rPr lang="en-US" dirty="0"/>
              <a:t>Since BSM </a:t>
            </a:r>
            <a:r>
              <a:rPr lang="en-US" dirty="0" err="1"/>
              <a:t>TempID</a:t>
            </a:r>
            <a:r>
              <a:rPr lang="en-US" dirty="0"/>
              <a:t> is randomized</a:t>
            </a:r>
          </a:p>
        </p:txBody>
      </p:sp>
    </p:spTree>
    <p:extLst>
      <p:ext uri="{BB962C8B-B14F-4D97-AF65-F5344CB8AC3E}">
        <p14:creationId xmlns:p14="http://schemas.microsoft.com/office/powerpoint/2010/main" val="22118852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9214B-F069-47FF-8DC1-FD9166FD7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894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Full Radio Stack Capture (C-V2X)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EB304E13-7241-48F0-B5E5-4FB8B3611B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3217694"/>
              </p:ext>
            </p:extLst>
          </p:nvPr>
        </p:nvGraphicFramePr>
        <p:xfrm>
          <a:off x="838200" y="1076687"/>
          <a:ext cx="105156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013481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360325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Network Layers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Network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49410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Radiotap</a:t>
                      </a:r>
                      <a:r>
                        <a:rPr lang="en-US" dirty="0"/>
                        <a:t> (optional)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Radio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1324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1609.2 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Security signage (even if unsigned)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22697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J2735 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BSM, MAP, SPAT, RTCM, 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0011890"/>
                  </a:ext>
                </a:extLst>
              </a:tr>
            </a:tbl>
          </a:graphicData>
        </a:graphic>
      </p:graphicFrame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D9B3A6B-64A8-4E7B-BC6B-7EF601318D20}"/>
              </a:ext>
            </a:extLst>
          </p:cNvPr>
          <p:cNvSpPr txBox="1">
            <a:spLocks/>
          </p:cNvSpPr>
          <p:nvPr/>
        </p:nvSpPr>
        <p:spPr>
          <a:xfrm>
            <a:off x="838200" y="2652664"/>
            <a:ext cx="10515600" cy="38402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Some OBUs send over UDP (</a:t>
            </a:r>
            <a:r>
              <a:rPr lang="en-US" sz="2400" dirty="0" err="1"/>
              <a:t>Cohda</a:t>
            </a:r>
            <a:r>
              <a:rPr lang="en-US" sz="2400" dirty="0"/>
              <a:t> ports 9000-9001)</a:t>
            </a:r>
          </a:p>
          <a:p>
            <a:r>
              <a:rPr lang="en-US" sz="2400" dirty="0"/>
              <a:t>Or use special 0x88DC format for OTA data</a:t>
            </a:r>
          </a:p>
          <a:p>
            <a:r>
              <a:rPr lang="en-US" sz="2400" dirty="0"/>
              <a:t>Same rules as for DSRC, needs WSMP layer</a:t>
            </a:r>
          </a:p>
          <a:p>
            <a:r>
              <a:rPr lang="en-US" sz="2400" dirty="0"/>
              <a:t>Not supported by tool</a:t>
            </a:r>
          </a:p>
        </p:txBody>
      </p:sp>
    </p:spTree>
    <p:extLst>
      <p:ext uri="{BB962C8B-B14F-4D97-AF65-F5344CB8AC3E}">
        <p14:creationId xmlns:p14="http://schemas.microsoft.com/office/powerpoint/2010/main" val="1537710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9214B-F069-47FF-8DC1-FD9166FD7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894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UDP V2X Stack Capture (C-V2X or DSRC)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EB304E13-7241-48F0-B5E5-4FB8B3611B5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076687"/>
          <a:ext cx="105156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013481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360325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Network Layers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Network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49410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Ethernet frame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Ethernet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1324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IPv4 or IPv6 6 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TCP/IP layer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10288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UDP 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Standard UDP sockets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0305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1609.2 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Security signage (even if unsigned)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9687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J2735 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BSM, MAP, SPAT, RTCM, 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0011890"/>
                  </a:ext>
                </a:extLst>
              </a:tr>
            </a:tbl>
          </a:graphicData>
        </a:graphic>
      </p:graphicFrame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D9B3A6B-64A8-4E7B-BC6B-7EF601318D20}"/>
              </a:ext>
            </a:extLst>
          </p:cNvPr>
          <p:cNvSpPr txBox="1">
            <a:spLocks/>
          </p:cNvSpPr>
          <p:nvPr/>
        </p:nvSpPr>
        <p:spPr>
          <a:xfrm>
            <a:off x="838200" y="3429000"/>
            <a:ext cx="10515600" cy="306387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OBU unique</a:t>
            </a:r>
          </a:p>
          <a:p>
            <a:r>
              <a:rPr lang="en-US" dirty="0"/>
              <a:t>C-V2X and DSRC agnostic</a:t>
            </a:r>
          </a:p>
          <a:p>
            <a:r>
              <a:rPr lang="en-US" dirty="0"/>
              <a:t>Doesn’t provide 802.11 or WSMP layers which give us more info</a:t>
            </a:r>
          </a:p>
          <a:p>
            <a:r>
              <a:rPr lang="en-US" dirty="0"/>
              <a:t>Open UDP socket to destination and write data:</a:t>
            </a:r>
          </a:p>
          <a:p>
            <a:r>
              <a:rPr lang="en-US" dirty="0"/>
              <a:t>Should include all WSMP, 1609.2 and J2735 layers</a:t>
            </a:r>
          </a:p>
          <a:p>
            <a:r>
              <a:rPr lang="en-US" dirty="0"/>
              <a:t>Can’t distinguish TX from RX?</a:t>
            </a:r>
          </a:p>
          <a:p>
            <a:pPr lvl="1"/>
            <a:r>
              <a:rPr lang="en-US" dirty="0"/>
              <a:t>Use different UDP ports for TX and RX</a:t>
            </a:r>
          </a:p>
        </p:txBody>
      </p:sp>
    </p:spTree>
    <p:extLst>
      <p:ext uri="{BB962C8B-B14F-4D97-AF65-F5344CB8AC3E}">
        <p14:creationId xmlns:p14="http://schemas.microsoft.com/office/powerpoint/2010/main" val="11591214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9214B-F069-47FF-8DC1-FD9166FD7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894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UDP V2X Stack Capture (DSRC) </a:t>
            </a:r>
            <a:r>
              <a:rPr lang="en-US" b="1" dirty="0" err="1"/>
              <a:t>Tazman</a:t>
            </a:r>
            <a:endParaRPr lang="en-US" b="1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EB304E13-7241-48F0-B5E5-4FB8B3611B5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076687"/>
          <a:ext cx="105156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013481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360325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Network Layers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Network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49410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Ethernet Frame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Ethernet packet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1324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IPv4 or IPv6 6 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TCP/IP layer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10288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UDP 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Standard UDP socket on port 37008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0305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Tazman</a:t>
                      </a:r>
                      <a:r>
                        <a:rPr lang="en-US" dirty="0"/>
                        <a:t> Sniffer Layer (optional)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Radio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79652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WSMP 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WSMP –N header –T header message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22697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1609.2 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Security signage (even if unsigned)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9687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J2735 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BSM, MAP, SPAT, RTCM, 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0011890"/>
                  </a:ext>
                </a:extLst>
              </a:tr>
            </a:tbl>
          </a:graphicData>
        </a:graphic>
      </p:graphicFrame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D9B3A6B-64A8-4E7B-BC6B-7EF601318D20}"/>
              </a:ext>
            </a:extLst>
          </p:cNvPr>
          <p:cNvSpPr txBox="1">
            <a:spLocks/>
          </p:cNvSpPr>
          <p:nvPr/>
        </p:nvSpPr>
        <p:spPr>
          <a:xfrm>
            <a:off x="838200" y="4136024"/>
            <a:ext cx="10515600" cy="235685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OBU Unique</a:t>
            </a:r>
          </a:p>
          <a:p>
            <a:r>
              <a:rPr lang="en-US" dirty="0"/>
              <a:t>802.11 specific</a:t>
            </a:r>
          </a:p>
          <a:p>
            <a:r>
              <a:rPr lang="en-US" dirty="0" err="1"/>
              <a:t>Tazman</a:t>
            </a:r>
            <a:r>
              <a:rPr lang="en-US" dirty="0"/>
              <a:t> layer adds additional radio information</a:t>
            </a:r>
          </a:p>
          <a:p>
            <a:pPr lvl="1"/>
            <a:r>
              <a:rPr lang="en-US" dirty="0"/>
              <a:t>Some information is redundant with WSMP, helps when WSMP is not present</a:t>
            </a:r>
          </a:p>
          <a:p>
            <a:r>
              <a:rPr lang="en-US" dirty="0"/>
              <a:t>Last ditch looks for 0x88DC signature for WSMP</a:t>
            </a:r>
          </a:p>
        </p:txBody>
      </p:sp>
    </p:spTree>
    <p:extLst>
      <p:ext uri="{BB962C8B-B14F-4D97-AF65-F5344CB8AC3E}">
        <p14:creationId xmlns:p14="http://schemas.microsoft.com/office/powerpoint/2010/main" val="42476366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5C92F-F457-424A-9DE0-7926F7D2C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62486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The CAMP/</a:t>
            </a:r>
            <a:r>
              <a:rPr lang="en-US" b="1" dirty="0" err="1"/>
              <a:t>TOSCo</a:t>
            </a:r>
            <a:r>
              <a:rPr lang="en-US" b="1" dirty="0"/>
              <a:t>/CI/CTIC JSON Format for J2735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25ED7C-0BF5-4EF3-922D-A8B658AF1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7612"/>
            <a:ext cx="10515600" cy="5590902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100% JSON and easy to parse using Python’s json package.</a:t>
            </a:r>
          </a:p>
          <a:p>
            <a:r>
              <a:rPr lang="en-US" dirty="0"/>
              <a:t>Header example: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{"Timestamp":1597167252195,"Direction":"RX","Message_id":19,"P1609dot2_flag":0,"Messa</a:t>
            </a:r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ge":{"messageId":19,"value":{</a:t>
            </a:r>
            <a:r>
              <a:rPr lang="en-US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}}</a:t>
            </a:r>
            <a:r>
              <a:rPr lang="en-US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,"Version":"1.0”</a:t>
            </a:r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b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Header fields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Timestamp</a:t>
            </a:r>
            <a:r>
              <a:rPr lang="en-US" dirty="0"/>
              <a:t> is milliseconds since the Epoch (Jan 1</a:t>
            </a:r>
            <a:r>
              <a:rPr lang="en-US" baseline="30000" dirty="0"/>
              <a:t>st</a:t>
            </a:r>
            <a:r>
              <a:rPr lang="en-US" dirty="0"/>
              <a:t> 1970), 13 digits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Direction</a:t>
            </a:r>
            <a:r>
              <a:rPr lang="en-US" dirty="0"/>
              <a:t> indicates if message is TX or RX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Message_id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is the J2735 </a:t>
            </a:r>
            <a:r>
              <a:rPr lang="en-US" dirty="0" err="1"/>
              <a:t>messageID</a:t>
            </a:r>
            <a:r>
              <a:rPr lang="en-US" dirty="0"/>
              <a:t> [MAP=18, SPAT=19, BSM=20, …]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P1609dot2_flag</a:t>
            </a:r>
            <a:r>
              <a:rPr lang="en-US" dirty="0">
                <a:cs typeface="Courier New" panose="02070309020205020404" pitchFamily="49" charset="0"/>
              </a:rPr>
              <a:t> if set, </a:t>
            </a:r>
            <a:r>
              <a:rPr lang="en-US" dirty="0"/>
              <a:t>indicates if message was unsigned(0) or signed(1)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Version</a:t>
            </a:r>
            <a:r>
              <a:rPr lang="en-US" dirty="0"/>
              <a:t> is included on 1</a:t>
            </a:r>
            <a:r>
              <a:rPr lang="en-US" baseline="30000" dirty="0"/>
              <a:t>st</a:t>
            </a:r>
            <a:r>
              <a:rPr lang="en-US" dirty="0"/>
              <a:t> record only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Conversion</a:t>
            </a:r>
            <a:r>
              <a:rPr lang="en-US" dirty="0"/>
              <a:t> (not seen) is added for BSMs with converted data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Message</a:t>
            </a:r>
            <a:r>
              <a:rPr lang="en-US" dirty="0"/>
              <a:t> field gives J2735 data structure as decoded to JSON</a:t>
            </a:r>
          </a:p>
          <a:p>
            <a:r>
              <a:rPr lang="en-US" dirty="0"/>
              <a:t>Samples</a:t>
            </a:r>
          </a:p>
          <a:p>
            <a:pPr lvl="1"/>
            <a:r>
              <a:rPr lang="en-US" dirty="0"/>
              <a:t>Don’t copy from document because PowerPoint formats them funny (line wrapping on hyphens)</a:t>
            </a:r>
          </a:p>
          <a:p>
            <a:r>
              <a:rPr lang="en-US" dirty="0"/>
              <a:t>Import JSON into big data science tools like Pandas and/or Anaconda</a:t>
            </a:r>
          </a:p>
          <a:p>
            <a:pPr lvl="1"/>
            <a:r>
              <a:rPr lang="en-US" dirty="0"/>
              <a:t>Pandas</a:t>
            </a:r>
          </a:p>
          <a:p>
            <a:pPr lvl="1"/>
            <a:r>
              <a:rPr lang="en-US" dirty="0"/>
              <a:t>Anaconda</a:t>
            </a:r>
          </a:p>
          <a:p>
            <a:pPr lvl="1"/>
            <a:r>
              <a:rPr lang="en-US" dirty="0"/>
              <a:t>Snowflake</a:t>
            </a:r>
          </a:p>
          <a:p>
            <a:pPr lvl="1"/>
            <a:r>
              <a:rPr lang="en-US" dirty="0"/>
              <a:t>…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96373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FFB80-5A60-C711-4693-22E672843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CB0A9-0DC6-D9A1-D7E9-95D84F241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55625"/>
          </a:xfrm>
        </p:spPr>
        <p:txBody>
          <a:bodyPr>
            <a:normAutofit fontScale="90000"/>
          </a:bodyPr>
          <a:lstStyle/>
          <a:p>
            <a:r>
              <a:rPr lang="en-US" dirty="0"/>
              <a:t>Python and </a:t>
            </a:r>
            <a:r>
              <a:rPr lang="en-US" dirty="0" err="1"/>
              <a:t>Pycrate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2F0BC-D49E-4916-CAE4-7321657F88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20750"/>
            <a:ext cx="10515600" cy="5689600"/>
          </a:xfrm>
        </p:spPr>
        <p:txBody>
          <a:bodyPr>
            <a:noAutofit/>
          </a:bodyPr>
          <a:lstStyle/>
          <a:p>
            <a:r>
              <a:rPr lang="en-US" sz="2400" dirty="0"/>
              <a:t>The ease of working in Python makes it all worth using </a:t>
            </a:r>
            <a:r>
              <a:rPr lang="en-US" sz="2400" dirty="0" err="1"/>
              <a:t>Pycrate</a:t>
            </a:r>
            <a:endParaRPr lang="en-US" sz="2400" dirty="0"/>
          </a:p>
          <a:p>
            <a:pPr lvl="1"/>
            <a:r>
              <a:rPr lang="en-US" sz="2000" u="sng" dirty="0">
                <a:hlinkClick r:id="rId2"/>
              </a:rPr>
              <a:t>GitHub - P1sec/</a:t>
            </a:r>
            <a:r>
              <a:rPr lang="en-US" sz="2000" u="sng" dirty="0" err="1">
                <a:hlinkClick r:id="rId2"/>
              </a:rPr>
              <a:t>pycrate</a:t>
            </a:r>
            <a:r>
              <a:rPr lang="en-US" sz="2000" u="sng" dirty="0">
                <a:hlinkClick r:id="rId2"/>
              </a:rPr>
              <a:t>: A Python library to ease the development of encoders and decoders for various protocols and file formats; contains ASN.1 and CSN.1 compilers. · GitHub</a:t>
            </a:r>
            <a:endParaRPr lang="en-US" sz="2000" dirty="0"/>
          </a:p>
          <a:p>
            <a:r>
              <a:rPr lang="en-US" sz="2400" dirty="0" err="1"/>
              <a:t>Pycrate</a:t>
            </a:r>
            <a:r>
              <a:rPr lang="en-US" sz="2400" dirty="0"/>
              <a:t> does J2735 ASN.1 UPER quite well</a:t>
            </a:r>
          </a:p>
          <a:p>
            <a:r>
              <a:rPr lang="en-US" sz="2400" dirty="0"/>
              <a:t>Close to having 1609.2 OER decoding working</a:t>
            </a:r>
          </a:p>
          <a:p>
            <a:pPr marL="342900" indent="-342900"/>
            <a:r>
              <a:rPr lang="en-US" dirty="0"/>
              <a:t>PCAP decoder to JSON converter</a:t>
            </a:r>
          </a:p>
          <a:p>
            <a:pPr marL="575728" lvl="2" indent="-342900"/>
            <a:r>
              <a:rPr lang="en-US" dirty="0"/>
              <a:t>GUI and command line</a:t>
            </a:r>
          </a:p>
          <a:p>
            <a:pPr marL="575728" lvl="2" indent="-342900"/>
            <a:r>
              <a:rPr lang="en-US" dirty="0"/>
              <a:t>Wiki: </a:t>
            </a:r>
            <a:r>
              <a:rPr lang="en-US" u="sng" dirty="0">
                <a:hlinkClick r:id="rId3"/>
              </a:rPr>
              <a:t>J2735 Tools - </a:t>
            </a:r>
            <a:r>
              <a:rPr lang="en-US" u="sng" dirty="0" err="1">
                <a:hlinkClick r:id="rId3"/>
              </a:rPr>
              <a:t>ProbeStar</a:t>
            </a:r>
            <a:r>
              <a:rPr lang="en-US" u="sng" dirty="0">
                <a:hlinkClick r:id="rId3"/>
              </a:rPr>
              <a:t> V2X Wiki</a:t>
            </a:r>
            <a:r>
              <a:rPr lang="en-US" dirty="0"/>
              <a:t>)</a:t>
            </a:r>
          </a:p>
          <a:p>
            <a:pPr marL="575728" lvl="2" indent="-342900"/>
            <a:r>
              <a:rPr lang="en-US" dirty="0" err="1"/>
              <a:t>Github</a:t>
            </a:r>
            <a:r>
              <a:rPr lang="en-US" dirty="0"/>
              <a:t>: </a:t>
            </a:r>
            <a:r>
              <a:rPr lang="en-US" u="sng" dirty="0" err="1">
                <a:hlinkClick r:id="rId4"/>
              </a:rPr>
              <a:t>nprobert</a:t>
            </a:r>
            <a:r>
              <a:rPr lang="en-US" u="sng" dirty="0">
                <a:hlinkClick r:id="rId4"/>
              </a:rPr>
              <a:t>/j2735_tools</a:t>
            </a:r>
            <a:endParaRPr lang="en-US" dirty="0"/>
          </a:p>
          <a:p>
            <a:pPr marL="575728" lvl="2" indent="-342900"/>
            <a:r>
              <a:rPr lang="en-US" dirty="0"/>
              <a:t>Compiled version for windows here: </a:t>
            </a:r>
            <a:r>
              <a:rPr lang="en-US" u="sng" dirty="0">
                <a:hlinkClick r:id="rId5"/>
              </a:rPr>
              <a:t>https://v2x.probestar.com/j2735_tools/</a:t>
            </a:r>
            <a:endParaRPr lang="en-US" u="sng" dirty="0"/>
          </a:p>
          <a:p>
            <a:pPr marL="1032928" lvl="3" indent="-342900"/>
            <a:r>
              <a:rPr lang="en-US" dirty="0" err="1"/>
              <a:t>Userid</a:t>
            </a:r>
            <a:r>
              <a:rPr lang="en-US" dirty="0"/>
              <a:t> = j2735</a:t>
            </a:r>
          </a:p>
          <a:p>
            <a:pPr marL="1032928" lvl="3" indent="-342900"/>
            <a:r>
              <a:rPr lang="en-US" dirty="0"/>
              <a:t>Password = </a:t>
            </a:r>
            <a:r>
              <a:rPr lang="en-US" dirty="0" err="1"/>
              <a:t>pcap_decoder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09842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D87BD-09BB-4D30-B0E5-09D32F0CA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8944"/>
          </a:xfrm>
        </p:spPr>
        <p:txBody>
          <a:bodyPr>
            <a:normAutofit fontScale="90000"/>
          </a:bodyPr>
          <a:lstStyle/>
          <a:p>
            <a:r>
              <a:rPr lang="en-US" b="1" u="sng" dirty="0"/>
              <a:t>Tool options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3AF8DF-B285-4E50-B41B-20B540976A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4070"/>
            <a:ext cx="10515600" cy="5695404"/>
          </a:xfrm>
        </p:spPr>
        <p:txBody>
          <a:bodyPr>
            <a:normAutofit lnSpcReduction="10000"/>
          </a:bodyPr>
          <a:lstStyle/>
          <a:p>
            <a:r>
              <a:rPr lang="en-US" sz="2000" dirty="0"/>
              <a:t>Debug Log</a:t>
            </a:r>
          </a:p>
          <a:p>
            <a:pPr lvl="1"/>
            <a:r>
              <a:rPr lang="en-US" sz="1800" dirty="0"/>
              <a:t>Output detailed conversion log to debug.txt file</a:t>
            </a:r>
          </a:p>
          <a:p>
            <a:r>
              <a:rPr lang="en-US" sz="2000" dirty="0"/>
              <a:t>Output Binary MAPs</a:t>
            </a:r>
          </a:p>
          <a:p>
            <a:pPr lvl="1"/>
            <a:r>
              <a:rPr lang="en-US" sz="1800" dirty="0"/>
              <a:t>Extracts J2735 UPER encoded MAPs to binary files (.bin)</a:t>
            </a:r>
          </a:p>
          <a:p>
            <a:r>
              <a:rPr lang="en-US" sz="2000" dirty="0"/>
              <a:t>Output MAPs/SPATs into file (combined)</a:t>
            </a:r>
          </a:p>
          <a:p>
            <a:pPr lvl="1"/>
            <a:r>
              <a:rPr lang="en-US" sz="1800" dirty="0" err="1"/>
              <a:t>mapspat</a:t>
            </a:r>
            <a:r>
              <a:rPr lang="en-US" sz="1800" dirty="0"/>
              <a:t>-reg#-</a:t>
            </a:r>
            <a:r>
              <a:rPr lang="en-US" sz="1800" dirty="0" err="1"/>
              <a:t>id#.json</a:t>
            </a:r>
            <a:endParaRPr lang="en-US" sz="1800" dirty="0"/>
          </a:p>
          <a:p>
            <a:r>
              <a:rPr lang="en-US" sz="2000" dirty="0"/>
              <a:t>Separate MAPs/SPATs into files (split)</a:t>
            </a:r>
          </a:p>
          <a:p>
            <a:pPr lvl="1"/>
            <a:r>
              <a:rPr lang="en-US" sz="1800" dirty="0"/>
              <a:t>map-reg#-</a:t>
            </a:r>
            <a:r>
              <a:rPr lang="en-US" sz="1800" dirty="0" err="1"/>
              <a:t>id#.json</a:t>
            </a:r>
            <a:endParaRPr lang="en-US" sz="1800" dirty="0"/>
          </a:p>
          <a:p>
            <a:pPr lvl="1"/>
            <a:r>
              <a:rPr lang="en-US" sz="1800" dirty="0"/>
              <a:t>spat-reg#-</a:t>
            </a:r>
            <a:r>
              <a:rPr lang="en-US" sz="1800" dirty="0" err="1"/>
              <a:t>id#.json</a:t>
            </a:r>
            <a:endParaRPr lang="en-US" sz="1800" dirty="0"/>
          </a:p>
          <a:p>
            <a:r>
              <a:rPr lang="en-US" sz="2000" dirty="0"/>
              <a:t>Split BSMs into files by Id</a:t>
            </a:r>
          </a:p>
          <a:p>
            <a:pPr lvl="1"/>
            <a:r>
              <a:rPr lang="en-US" sz="1800" dirty="0"/>
              <a:t>By CAMP ID (lower 2 bytes only)</a:t>
            </a:r>
          </a:p>
          <a:p>
            <a:pPr lvl="1"/>
            <a:r>
              <a:rPr lang="en-US" sz="1800" dirty="0" err="1"/>
              <a:t>bsm</a:t>
            </a:r>
            <a:r>
              <a:rPr lang="en-US" sz="1800" dirty="0"/>
              <a:t>-</a:t>
            </a:r>
            <a:r>
              <a:rPr lang="en-US" sz="1800" dirty="0" err="1"/>
              <a:t>id#.json</a:t>
            </a:r>
            <a:endParaRPr lang="en-US" sz="1800" dirty="0"/>
          </a:p>
          <a:p>
            <a:r>
              <a:rPr lang="en-US" sz="2000" dirty="0"/>
              <a:t>BSM Conversion  of split files</a:t>
            </a:r>
          </a:p>
          <a:p>
            <a:pPr lvl="1"/>
            <a:r>
              <a:rPr lang="en-US" sz="1800" dirty="0"/>
              <a:t>Split files only</a:t>
            </a:r>
          </a:p>
          <a:p>
            <a:pPr lvl="1"/>
            <a:r>
              <a:rPr lang="en-US" sz="1800" dirty="0"/>
              <a:t>Converts BSM data from raw values to engineering unit values</a:t>
            </a:r>
          </a:p>
          <a:p>
            <a:r>
              <a:rPr lang="en-US" sz="2000" dirty="0"/>
              <a:t>Selected messages (command line –f option, no spaces in list)</a:t>
            </a:r>
          </a:p>
          <a:p>
            <a:pPr lvl="1"/>
            <a:r>
              <a:rPr lang="en-US" sz="1600" dirty="0"/>
              <a:t>-f BSM,MAP,SPAT</a:t>
            </a:r>
            <a:r>
              <a:rPr lang="en-US" sz="1600"/>
              <a:t>,RTCM</a:t>
            </a:r>
            <a:endParaRPr lang="en-US" sz="16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8649391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1F5AD-3B09-452D-83E6-E8A712D44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GUI Application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0FACB9D9-9127-8E0A-1B25-4D14512095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7175" y="1027906"/>
            <a:ext cx="7533333" cy="54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2562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D87BD-09BB-4D30-B0E5-09D32F0CA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6361"/>
          </a:xfrm>
        </p:spPr>
        <p:txBody>
          <a:bodyPr>
            <a:normAutofit fontScale="90000"/>
          </a:bodyPr>
          <a:lstStyle/>
          <a:p>
            <a:r>
              <a:rPr lang="en-US" b="1" u="sng" dirty="0"/>
              <a:t>Using the tool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3AF8DF-B285-4E50-B41B-20B540976A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1486"/>
            <a:ext cx="10515600" cy="5695405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cd j2735_tools/j2735_decoder</a:t>
            </a:r>
          </a:p>
          <a:p>
            <a:pPr lvl="1"/>
            <a:r>
              <a:rPr lang="en-US" dirty="0"/>
              <a:t>Linux: j2735_decoder_gui.py &amp;</a:t>
            </a:r>
          </a:p>
          <a:p>
            <a:pPr lvl="1"/>
            <a:r>
              <a:rPr lang="en-US" dirty="0"/>
              <a:t>Windows: j2735_decoder_gui.cmd (creating a shortcut would help)</a:t>
            </a:r>
          </a:p>
          <a:p>
            <a:r>
              <a:rPr lang="en-US" dirty="0"/>
              <a:t>Input File(s)</a:t>
            </a:r>
          </a:p>
          <a:p>
            <a:pPr lvl="1"/>
            <a:r>
              <a:rPr lang="en-US" dirty="0"/>
              <a:t>Select 1 or more PCAP (*.</a:t>
            </a:r>
            <a:r>
              <a:rPr lang="en-US" dirty="0" err="1"/>
              <a:t>pcap</a:t>
            </a:r>
            <a:r>
              <a:rPr lang="en-US" dirty="0"/>
              <a:t>, *.</a:t>
            </a:r>
            <a:r>
              <a:rPr lang="en-US" dirty="0" err="1"/>
              <a:t>pcapng</a:t>
            </a:r>
            <a:r>
              <a:rPr lang="en-US" dirty="0"/>
              <a:t>) files to decode and convert</a:t>
            </a:r>
          </a:p>
          <a:p>
            <a:pPr lvl="2"/>
            <a:r>
              <a:rPr lang="en-US" dirty="0" err="1"/>
              <a:t>Cohda</a:t>
            </a:r>
            <a:r>
              <a:rPr lang="en-US" dirty="0"/>
              <a:t>, </a:t>
            </a:r>
            <a:r>
              <a:rPr lang="en-US" dirty="0" err="1"/>
              <a:t>Commsignia</a:t>
            </a:r>
            <a:r>
              <a:rPr lang="en-US" dirty="0"/>
              <a:t>, DENSO, Panasonic, </a:t>
            </a:r>
            <a:r>
              <a:rPr lang="en-US" dirty="0" err="1"/>
              <a:t>Savari</a:t>
            </a:r>
            <a:r>
              <a:rPr lang="en-US" dirty="0"/>
              <a:t>, Wistron OBU formats</a:t>
            </a:r>
          </a:p>
          <a:p>
            <a:pPr lvl="2"/>
            <a:r>
              <a:rPr lang="en-US" dirty="0"/>
              <a:t>0x88DC special, Linux cooked, </a:t>
            </a:r>
            <a:r>
              <a:rPr lang="en-US" dirty="0" err="1"/>
              <a:t>Radiotap</a:t>
            </a:r>
            <a:r>
              <a:rPr lang="en-US" dirty="0"/>
              <a:t> and </a:t>
            </a:r>
            <a:r>
              <a:rPr lang="en-US" dirty="0" err="1"/>
              <a:t>Tazman</a:t>
            </a:r>
            <a:r>
              <a:rPr lang="en-US" dirty="0"/>
              <a:t> formats supported</a:t>
            </a:r>
          </a:p>
          <a:p>
            <a:pPr lvl="2"/>
            <a:r>
              <a:rPr lang="en-US" dirty="0"/>
              <a:t>RSU TSCBM and IFM formats (CI and CTIC projects)</a:t>
            </a:r>
          </a:p>
          <a:p>
            <a:pPr lvl="1"/>
            <a:r>
              <a:rPr lang="en-US" dirty="0" err="1"/>
              <a:t>eTrans</a:t>
            </a:r>
            <a:r>
              <a:rPr lang="en-US" dirty="0"/>
              <a:t> tool *.log files (not Kapsch *.csv files)</a:t>
            </a:r>
          </a:p>
          <a:p>
            <a:pPr lvl="2"/>
            <a:r>
              <a:rPr lang="en-US" dirty="0"/>
              <a:t>Decodes hex data</a:t>
            </a:r>
          </a:p>
          <a:p>
            <a:r>
              <a:rPr lang="en-US" dirty="0"/>
              <a:t>Output Dir</a:t>
            </a:r>
          </a:p>
          <a:p>
            <a:pPr lvl="1"/>
            <a:r>
              <a:rPr lang="en-US" dirty="0"/>
              <a:t>Select base output directory for JSON files (default “logs”)</a:t>
            </a:r>
          </a:p>
          <a:p>
            <a:pPr lvl="1"/>
            <a:r>
              <a:rPr lang="en-US" dirty="0" err="1"/>
              <a:t>Basename</a:t>
            </a:r>
            <a:r>
              <a:rPr lang="en-US" dirty="0"/>
              <a:t> is root filename of input file, will replace spaces with underscores in name</a:t>
            </a:r>
          </a:p>
          <a:p>
            <a:pPr lvl="1"/>
            <a:r>
              <a:rPr lang="en-US" dirty="0"/>
              <a:t>Output directory format: logs/</a:t>
            </a:r>
            <a:r>
              <a:rPr lang="en-US" dirty="0" err="1"/>
              <a:t>basename</a:t>
            </a:r>
            <a:r>
              <a:rPr lang="en-US" dirty="0"/>
              <a:t>/</a:t>
            </a:r>
            <a:r>
              <a:rPr lang="en-US" dirty="0" err="1"/>
              <a:t>files.json</a:t>
            </a:r>
            <a:r>
              <a:rPr lang="en-US" dirty="0"/>
              <a:t>, …</a:t>
            </a:r>
          </a:p>
          <a:p>
            <a:r>
              <a:rPr lang="en-US" dirty="0"/>
              <a:t>Convert File(s)</a:t>
            </a:r>
          </a:p>
          <a:p>
            <a:pPr lvl="1"/>
            <a:r>
              <a:rPr lang="en-US" dirty="0"/>
              <a:t>Starts conversion process on selected file(s)</a:t>
            </a:r>
          </a:p>
          <a:p>
            <a:pPr lvl="1"/>
            <a:r>
              <a:rPr lang="en-US" dirty="0"/>
              <a:t>Leaves behind metadata.txt file with conversion details</a:t>
            </a:r>
          </a:p>
          <a:p>
            <a:pPr lvl="1"/>
            <a:r>
              <a:rPr lang="en-US" dirty="0"/>
              <a:t>Optional debug.txt with details for each record</a:t>
            </a:r>
          </a:p>
          <a:p>
            <a:r>
              <a:rPr lang="en-US" dirty="0"/>
              <a:t>Exit</a:t>
            </a:r>
          </a:p>
          <a:p>
            <a:pPr lvl="1"/>
            <a:r>
              <a:rPr lang="en-US" dirty="0"/>
              <a:t>Quit program</a:t>
            </a:r>
          </a:p>
        </p:txBody>
      </p:sp>
    </p:spTree>
    <p:extLst>
      <p:ext uri="{BB962C8B-B14F-4D97-AF65-F5344CB8AC3E}">
        <p14:creationId xmlns:p14="http://schemas.microsoft.com/office/powerpoint/2010/main" val="40447542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53584-A5AF-4401-918C-3797FE696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636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Command line version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39E1D0-285A-405C-8FC6-49657F8C85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1486"/>
            <a:ext cx="10515600" cy="5704114"/>
          </a:xfrm>
        </p:spPr>
        <p:txBody>
          <a:bodyPr>
            <a:normAutofit/>
          </a:bodyPr>
          <a:lstStyle/>
          <a:p>
            <a:r>
              <a:rPr lang="en-US" sz="2000" dirty="0"/>
              <a:t>For the convenience of mass converting files</a:t>
            </a:r>
          </a:p>
          <a:p>
            <a:r>
              <a:rPr lang="en-US" sz="2000" dirty="0"/>
              <a:t>Output files into log output directory</a:t>
            </a:r>
          </a:p>
          <a:p>
            <a:r>
              <a:rPr lang="en-US" sz="2000" dirty="0"/>
              <a:t>./j2735_decoder.py [options] &lt;files&gt;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Python3 J2735-2024-05-28 PCAP Decoder V2.0.11 </a:t>
            </a:r>
            <a:br>
              <a:rPr lang="en-US" sz="1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</a:br>
            <a:r>
              <a:rPr lang="en-US" sz="1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j2735_decoder.py </a:t>
            </a:r>
            <a:r>
              <a:rPr lang="en-US" sz="14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bcdf:hmo:su:v:BO</a:t>
            </a:r>
            <a:r>
              <a:rPr lang="en-US" sz="1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: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-b        Split BSMs to file by ID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-c        Converting BSM enabled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-d        Debugging enabled to debug.txt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-f        Filter by message name, comma </a:t>
            </a:r>
            <a:r>
              <a:rPr lang="en-US" sz="14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seperated</a:t>
            </a:r>
            <a:r>
              <a:rPr lang="en-US" sz="1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list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-h        Help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-m        Binary MAP output in J2735 UPER format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-o  UDP offset to data in bytes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-s        Split MAPs/SPATs to file by ID in JSON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-u  UDP port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-v vid    BSMs extracted by vehicle id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-B        Use PCAP file base name as base path to output directory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-O  Path to output base directory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Creates JSON and KML (MAP) files with metadata.txt to /</a:t>
            </a:r>
            <a:b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</a:b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      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75591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99772-AC4F-6150-4AA9-B4893E16B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C8207-A2A2-92CB-433B-3219924B54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Building the Application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C1C5AA-6958-F3C2-C3D8-F352A87A2D8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Building under Linux or Windows</a:t>
            </a:r>
          </a:p>
          <a:p>
            <a:r>
              <a:rPr lang="en-US" dirty="0"/>
              <a:t>Private </a:t>
            </a:r>
            <a:r>
              <a:rPr lang="en-US" dirty="0" err="1"/>
              <a:t>github</a:t>
            </a:r>
            <a:r>
              <a:rPr lang="en-US" dirty="0"/>
              <a:t> at </a:t>
            </a:r>
            <a:r>
              <a:rPr lang="en-US" dirty="0">
                <a:hlinkClick r:id="rId2"/>
              </a:rPr>
              <a:t>https://github.com/nprobert/j2735_tools</a:t>
            </a:r>
            <a:endParaRPr lang="en-US" dirty="0"/>
          </a:p>
          <a:p>
            <a:r>
              <a:rPr lang="en-US" dirty="0" err="1"/>
              <a:t>Userid</a:t>
            </a:r>
            <a:r>
              <a:rPr lang="en-US" dirty="0"/>
              <a:t>: j2735 Password: </a:t>
            </a:r>
            <a:r>
              <a:rPr lang="en-US" dirty="0" err="1"/>
              <a:t>pcap_decoder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65262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82F40-50FE-40ED-9B64-85B4B73A3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506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Linux Installation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BF5B1-81C6-47C1-BBD3-FD5C7F983D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10194"/>
            <a:ext cx="10515600" cy="5166769"/>
          </a:xfrm>
        </p:spPr>
        <p:txBody>
          <a:bodyPr/>
          <a:lstStyle/>
          <a:p>
            <a:r>
              <a:rPr lang="en-US" sz="2400" dirty="0"/>
              <a:t>Python is part of Linux and Raspberry Pi, already installed</a:t>
            </a:r>
          </a:p>
          <a:p>
            <a:r>
              <a:rPr lang="en-US" sz="2400" dirty="0"/>
              <a:t>Build/run your own</a:t>
            </a:r>
          </a:p>
          <a:p>
            <a:pPr lvl="1"/>
            <a:r>
              <a:rPr lang="en-US" sz="2000" dirty="0"/>
              <a:t>Run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./packages.sh </a:t>
            </a:r>
            <a:r>
              <a:rPr lang="en-US" sz="2000" dirty="0"/>
              <a:t>script provided</a:t>
            </a:r>
          </a:p>
          <a:p>
            <a:pPr lvl="1"/>
            <a:r>
              <a:rPr lang="en-US" sz="2000" dirty="0"/>
              <a:t>Add classes and classes/j2735 to your PYTHONPATH</a:t>
            </a:r>
          </a:p>
          <a:p>
            <a:pPr lvl="2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export PYTHONPATH=~/j2735_tools/classes:~/j2735_tools/classes/j2735</a:t>
            </a:r>
          </a:p>
          <a:p>
            <a:pPr lvl="2"/>
            <a:r>
              <a:rPr lang="en-US" sz="1800" dirty="0"/>
              <a:t>Edit to reflect where you installed the application</a:t>
            </a:r>
          </a:p>
        </p:txBody>
      </p:sp>
    </p:spTree>
    <p:extLst>
      <p:ext uri="{BB962C8B-B14F-4D97-AF65-F5344CB8AC3E}">
        <p14:creationId xmlns:p14="http://schemas.microsoft.com/office/powerpoint/2010/main" val="26646516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82F40-50FE-40ED-9B64-85B4B73A3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506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Windows Installation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BF5B1-81C6-47C1-BBD3-FD5C7F983D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10194"/>
            <a:ext cx="10515600" cy="5166769"/>
          </a:xfrm>
        </p:spPr>
        <p:txBody>
          <a:bodyPr>
            <a:normAutofit/>
          </a:bodyPr>
          <a:lstStyle/>
          <a:p>
            <a:r>
              <a:rPr lang="en-US" dirty="0"/>
              <a:t>Windows</a:t>
            </a:r>
          </a:p>
          <a:p>
            <a:pPr lvl="1"/>
            <a:r>
              <a:rPr lang="en-US" dirty="0"/>
              <a:t>Download and install from </a:t>
            </a:r>
            <a:r>
              <a:rPr lang="en-US" dirty="0">
                <a:hlinkClick r:id="rId2"/>
              </a:rPr>
              <a:t>https://www.python.org/downloads/</a:t>
            </a:r>
            <a:endParaRPr lang="en-US" dirty="0"/>
          </a:p>
          <a:p>
            <a:pPr lvl="1"/>
            <a:r>
              <a:rPr lang="en-US" dirty="0"/>
              <a:t>Use packages.cmd to install everything</a:t>
            </a:r>
          </a:p>
          <a:p>
            <a:pPr lvl="1"/>
            <a:r>
              <a:rPr lang="en-US" dirty="0"/>
              <a:t>Use .</a:t>
            </a:r>
            <a:r>
              <a:rPr lang="en-US" dirty="0" err="1"/>
              <a:t>cmd</a:t>
            </a:r>
            <a:r>
              <a:rPr lang="en-US" dirty="0"/>
              <a:t> files to run tools</a:t>
            </a:r>
          </a:p>
          <a:p>
            <a:r>
              <a:rPr lang="en-US" dirty="0"/>
              <a:t>Pre-built binary (using </a:t>
            </a:r>
            <a:r>
              <a:rPr lang="en-US" dirty="0" err="1"/>
              <a:t>PyInstaller</a:t>
            </a:r>
            <a:r>
              <a:rPr lang="en-US" dirty="0"/>
              <a:t>)</a:t>
            </a:r>
          </a:p>
          <a:p>
            <a:pPr lvl="1"/>
            <a:r>
              <a:rPr lang="en-US" dirty="0">
                <a:hlinkClick r:id="rId3"/>
              </a:rPr>
              <a:t>https://v2x.probestar.com/j2735_tools/</a:t>
            </a:r>
            <a:endParaRPr lang="en-US" dirty="0"/>
          </a:p>
          <a:p>
            <a:pPr lvl="1"/>
            <a:r>
              <a:rPr lang="en-US" dirty="0"/>
              <a:t>Looking at using Docker</a:t>
            </a:r>
          </a:p>
          <a:p>
            <a:pPr lvl="1"/>
            <a:r>
              <a:rPr lang="en-US" dirty="0"/>
              <a:t>Wireshark build with J2735 support included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29529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7B99E-E4DA-4427-B16F-E3D51B685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2765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The Gory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424D9-48B3-47D2-A0AA-4642D385F8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92778"/>
            <a:ext cx="10515600" cy="5660571"/>
          </a:xfrm>
        </p:spPr>
        <p:txBody>
          <a:bodyPr>
            <a:normAutofit/>
          </a:bodyPr>
          <a:lstStyle/>
          <a:p>
            <a:r>
              <a:rPr lang="en-US" dirty="0"/>
              <a:t>Python 3</a:t>
            </a:r>
          </a:p>
          <a:p>
            <a:pPr lvl="1"/>
            <a:r>
              <a:rPr lang="en-US" dirty="0"/>
              <a:t>Python 3.11 or greater (Python 2 is EOL)</a:t>
            </a:r>
          </a:p>
          <a:p>
            <a:pPr lvl="1"/>
            <a:r>
              <a:rPr lang="en-US" dirty="0"/>
              <a:t>PySide6 or higher for QT6 based GUI (multiplatform)</a:t>
            </a:r>
          </a:p>
          <a:p>
            <a:pPr lvl="2"/>
            <a:r>
              <a:rPr lang="en-US" dirty="0"/>
              <a:t>Uses Qt Creator to edit the .</a:t>
            </a:r>
            <a:r>
              <a:rPr lang="en-US" dirty="0" err="1"/>
              <a:t>ui</a:t>
            </a:r>
            <a:r>
              <a:rPr lang="en-US" dirty="0"/>
              <a:t> files</a:t>
            </a:r>
          </a:p>
          <a:p>
            <a:pPr lvl="2"/>
            <a:r>
              <a:rPr lang="en-US" dirty="0"/>
              <a:t>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pyside6-uic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mainwindow.ui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–o MainWindow.py</a:t>
            </a:r>
            <a:r>
              <a:rPr lang="en-US" dirty="0"/>
              <a:t> generates code</a:t>
            </a:r>
          </a:p>
          <a:p>
            <a:r>
              <a:rPr lang="en-US" dirty="0"/>
              <a:t>Network packet dissection</a:t>
            </a:r>
          </a:p>
          <a:p>
            <a:pPr lvl="1"/>
            <a:r>
              <a:rPr lang="en-US" dirty="0"/>
              <a:t>Python package </a:t>
            </a:r>
            <a:r>
              <a:rPr lang="en-US" dirty="0" err="1"/>
              <a:t>scapy</a:t>
            </a:r>
            <a:r>
              <a:rPr lang="en-US" dirty="0"/>
              <a:t> (</a:t>
            </a:r>
            <a:r>
              <a:rPr lang="en-US" dirty="0">
                <a:hlinkClick r:id="rId2"/>
              </a:rPr>
              <a:t>https://scapy.net/</a:t>
            </a:r>
            <a:r>
              <a:rPr lang="en-US" dirty="0"/>
              <a:t>)</a:t>
            </a:r>
            <a:endParaRPr lang="en-US" dirty="0">
              <a:cs typeface="Courier New" panose="02070309020205020404" pitchFamily="49" charset="0"/>
            </a:endParaRPr>
          </a:p>
          <a:p>
            <a:r>
              <a:rPr lang="en-US" dirty="0"/>
              <a:t>Packet Decoding</a:t>
            </a:r>
          </a:p>
          <a:p>
            <a:pPr lvl="1"/>
            <a:r>
              <a:rPr lang="en-US" dirty="0"/>
              <a:t>Uses the Python package </a:t>
            </a:r>
            <a:r>
              <a:rPr lang="en-US" dirty="0" err="1"/>
              <a:t>Pycrate</a:t>
            </a:r>
            <a:r>
              <a:rPr lang="en-US" dirty="0"/>
              <a:t> (</a:t>
            </a:r>
            <a:r>
              <a:rPr lang="en-US" dirty="0">
                <a:hlinkClick r:id="rId3"/>
              </a:rPr>
              <a:t>https://github.com/P1sec/pycrate</a:t>
            </a:r>
            <a:r>
              <a:rPr lang="en-US" dirty="0"/>
              <a:t>)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python –m pip install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pycrate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/>
              <a:t>Uses </a:t>
            </a:r>
            <a:r>
              <a:rPr lang="en-US" dirty="0" err="1"/>
              <a:t>Pycreate</a:t>
            </a:r>
            <a:r>
              <a:rPr lang="en-US" dirty="0"/>
              <a:t> to decode J2735 ASN.1 UPER</a:t>
            </a:r>
          </a:p>
          <a:p>
            <a:pPr lvl="1"/>
            <a:r>
              <a:rPr lang="en-US" dirty="0"/>
              <a:t>1609.2 ASN.1 OER is manually decoded</a:t>
            </a:r>
          </a:p>
        </p:txBody>
      </p:sp>
    </p:spTree>
    <p:extLst>
      <p:ext uri="{BB962C8B-B14F-4D97-AF65-F5344CB8AC3E}">
        <p14:creationId xmlns:p14="http://schemas.microsoft.com/office/powerpoint/2010/main" val="33985108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71F81-9870-4EFB-85F5-C249461974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Other Tools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303977-50C6-410A-A1BC-595E2E6384C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47739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9D9B8-B7E6-498D-A432-64CD22B3E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27652"/>
          </a:xfrm>
        </p:spPr>
        <p:txBody>
          <a:bodyPr>
            <a:normAutofit fontScale="90000"/>
          </a:bodyPr>
          <a:lstStyle/>
          <a:p>
            <a:r>
              <a:rPr lang="en-US" dirty="0"/>
              <a:t>Wireshark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2A0EA-4EA4-48AA-8213-0A1023EFD0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92778"/>
            <a:ext cx="10515600" cy="5184185"/>
          </a:xfrm>
        </p:spPr>
        <p:txBody>
          <a:bodyPr/>
          <a:lstStyle/>
          <a:p>
            <a:r>
              <a:rPr lang="en-US" dirty="0"/>
              <a:t>Wireshark-DSRC with J2735 Dissection</a:t>
            </a:r>
          </a:p>
          <a:p>
            <a:pPr lvl="1"/>
            <a:r>
              <a:rPr lang="en-US" dirty="0"/>
              <a:t>Built using latest version of Wireshark!</a:t>
            </a:r>
          </a:p>
          <a:p>
            <a:pPr lvl="1"/>
            <a:r>
              <a:rPr lang="en-US" dirty="0"/>
              <a:t>Linux (Ubuntu and RedHat) or Windows 10/11</a:t>
            </a:r>
          </a:p>
          <a:p>
            <a:pPr lvl="1"/>
            <a:r>
              <a:rPr lang="en-US" dirty="0">
                <a:hlinkClick r:id="rId2"/>
              </a:rPr>
              <a:t>https://github.com/nprobert/Wireshark-J2735</a:t>
            </a:r>
            <a:endParaRPr lang="en-US" dirty="0"/>
          </a:p>
          <a:p>
            <a:pPr lvl="1"/>
            <a:r>
              <a:rPr lang="en-US" dirty="0"/>
              <a:t>Doesn’t include J2735 ASN.1 needed</a:t>
            </a:r>
          </a:p>
          <a:p>
            <a:pPr lvl="2"/>
            <a:r>
              <a:rPr lang="en-US" dirty="0"/>
              <a:t>Which has to be modified to compile correctly</a:t>
            </a:r>
          </a:p>
          <a:p>
            <a:pPr lvl="1"/>
            <a:r>
              <a:rPr lang="en-US" dirty="0"/>
              <a:t>Caveats</a:t>
            </a:r>
          </a:p>
          <a:p>
            <a:pPr lvl="2"/>
            <a:r>
              <a:rPr lang="en-US" dirty="0"/>
              <a:t>Doesn’t handle missing 1609.2 layer</a:t>
            </a:r>
          </a:p>
          <a:p>
            <a:pPr lvl="2"/>
            <a:r>
              <a:rPr lang="en-US" dirty="0"/>
              <a:t>Doesn’t correctly show UPER bits</a:t>
            </a:r>
          </a:p>
          <a:p>
            <a:pPr lvl="2"/>
            <a:r>
              <a:rPr lang="en-US" dirty="0"/>
              <a:t>Doesn’t show J2735 conversions</a:t>
            </a:r>
          </a:p>
        </p:txBody>
      </p:sp>
    </p:spTree>
    <p:extLst>
      <p:ext uri="{BB962C8B-B14F-4D97-AF65-F5344CB8AC3E}">
        <p14:creationId xmlns:p14="http://schemas.microsoft.com/office/powerpoint/2010/main" val="40964576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5C92F-F457-424A-9DE0-7926F7D2C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62486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MAP sample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25ED7C-0BF5-4EF3-922D-A8B658AF1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7612"/>
            <a:ext cx="10515600" cy="51493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{"Timestamp":1597167253960,"Direction":"RX","Message_id":18,"P1609dot2_flag":0,"Message":{"messageId":18,"value":{"intersections":[{"id":{"id":782},"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laneSet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":[{"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connectsTo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":[{"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connectingLane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":{"lane":11 ,"maneuver":"2000"},"signalGroup":2}],"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laneAttributes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":{"directionalUse":"80","laneType":{"vehicle":" 00"},"sharedWith":"1000"},"laneID":1,"maneuvers":"8000","nodeList":{"nodes":[{"delta":{"node-XY4":{"x ":2083,"y":-2129}}},{"delta":{"node-XY4":{"x":311,"y":-2532}}},{"delta":{"node-XY4":{"x":346,"y":-302 8}}},{"delta":{"node-XY1":{"x":0,"y":-305}}},{"delta":{"node-XY4":{"x":-122,"y":-2659}}}]}},{"connect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sTo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":[{"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connectingLane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":{"lane":7,"maneuver":"8000"},"signalGroup":2}],"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laneAttributes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":{"directional Use":"80","laneType":{"vehicle":"00"},"sharedWith":"1000"},"laneID":2,"maneuvers":"8000","nodeList":{ "nodes":[{"delta":{"node-XY4":{"x":638,"y":-2316}}},{"delta":{"node-XY4":{"x":337,"y":-2788}}},{"delt a":{"node-XY4":{"x":284,"y":-2729}}},{"delta":{"node-XY4":{"x":246,"y":-2732}}},{"delta":{"node-XY4": {"x":241,"y":-3344}}},{"delta":{"node-XY4":{"x":149,"y":-2739}}},{"delta":{"node-XY3":{"x":74,"y":-18 27}}},{"delta":{"node-XY6":{"x":352,"y":-11273}}}]}},{"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connectsTo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":[{"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connectingLane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":{"lane":8,"mane uver":"8000"},"signalGroup":2}],"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laneAttributes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":{"directionalUse":"80","laneType":{"vehicle":"00"}," sharedWith":"1000"},"laneID":3,"maneuvers":"8000","nodeList":{"nodes":[{"delta":{"node-XY4":{"x":998, "y":-2270}}},{"delta":{"node-XY4":{"x":309,"y":-2533}}},{"delta":{"node-XY4":{"x":322,"y":-3031}}},{" delta":{"node-XY4":{"x":244,"y":-2732}}},{"delta":{"node-XY4":{"x":242,"y":-3344}}},{"delta":{"node-X Y4":{"x":145,"y":-2739}}},{"delta":{"node-XY3":{"x":61,"y":-1523}}},{"delta":{"node-XY6":{"x":359,"y" :-11578}}}]}},{"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connectsTo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":[{"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connectingLane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":{"lane":9,"maneuver":"8000"},"signalGroup":2}],"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laneAt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tributes":{"directionalUse":"80","laneType":{"vehicle":"00"},"sharedWith":"1000"},"laneID":4,"maneuve rs":"8000","nodeList":{"nodes":[{"delta":{"node-XY4":{"x":1362,"y":-2222}}},{"delta":{"node-XY4":{"x" :319,"y":-2590}}},{"delta":{"node-XY4":{"x":322,"y":-3031}}},{"delta":{"node-XY4":{"x":242,"y":-2733} }},{"delta":{"node-XY4":{"x":242,"y":-3344}}},{"delta":{"node-XY4":{"x":146,"y":-2739}}},{"delta":{"n ode-XY3":{"x":51,"y":-1218}}},{"delta":{"node-XY6":{"x":366,"y":-11882}}}]}},{"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connectsTo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":[{"connect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ingLane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":{"lane":10,"maneuver":"8000"},"signalGroup":2}],"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laneAttributes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":{"directionalUse":"80","lan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eType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":{"vehicle":"00"},"sharedWith":"1000"},"laneID":5,"maneuvers":"8000","nodeList":{"nodes":[{"del ta":{"node-XY4":{"x":1724,"y":-2175}}},{"delta":{"node-XY4":{"x":324,"y":-2643}}},{"delta":{"node-XY4 ":{"x":321,"y":-3031}}},{"delta":{"node-XY4":{"x":270,"y":-3036}}},{"delta":{"node-XY4":{"x":215,"y": -3041}}},{"delta":{"node-XY4":{"x":148,"y":-2739}}},{"delta":{"node-XY3":{"x":73,"y":-1827}}},{"delta ":{"node-XY6":{"x":344,"y":-11273}}}]}},{"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connectsTo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":[{"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connectingLane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":{"lane":7,"maneuver":"4000"} ,"signalGroup":4}],"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laneAttributes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":{"directionalUse":"80","laneType":{"vehicle":"00"},"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sharedWith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":" 1000"},"laneID":6,"maneuvers":"4000","nodeList":{"nodes":[{"delta":{"node-XY2":{"x":-130,"y":-899}}}, {"delta":{"node-XY1":{"x":-296,"y":-72}}},{"delta":{"node-XY1":{"x":-303,"y":-14}}},{"delta":{"node-X Y1":{"x":-292,"y":69}}},{"delta":{"node-XY1":{"x":-225,"y":204}}},{"delta":{"node-XY1":{"x":-170,"y": 251}}},{"delta":{"node-XY1":{"x":-128,"y":276}}},{"delta":{"node-XY1":{"x":-100,"y":287}}},{"delta":{ "node-XY2":{"x":-151,"y":590}}},{"delta":{"node-XY1":{"x":-58,"y":299}}},{"delta":{"node-XY3":{"x":-2 35,"y":1814}}},{"delta":{"node-XY4":{"x":-371,"y":3332}}},{"delta":{"node-XY4":{"x":-310,"y":3339}}}, {"delta":{"node-XY4":{"x":-256,"y":3343}}},{"delta":{"node-XY4":{"x":-561,"y":3973}}}]}},{"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laneAttrib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utes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":{"directionalUse":"40","laneType":{"vehicle":"00"},"sharedWith":"1000"},"laneID":7,"nodeList":{ "nodes":[{"delta":{"node-XY2":{"x":268,"y":470}}},{"delta":{"node-XY4":{"x":-312,"y":2419}}},{"delta" :{"node-XY3":{"x":-215,"y":1816}}},{"delta":{"node-XY4":{"x":-253,"y":2425}}},{"delta":{"node-XY4":{" x":-248,"y":2732}}}]}},{"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laneAttributes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":{"directionalUse":"40","laneType":{"vehicle":"00"},"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sharedWi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th":"1000"},"laneID":8,"nodeList":{"nodes":[{"delta":{"node-XY2":{"x":626,"y":522}}},{"delta":{"node- XY4":{"x":-494,"y":3932}}},{"delta":{"node-XY4":{"x":-287,"y":2728}}},{"delta":{"node-XY4":{"x":-247, "y":2732}}}]}},{"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laneAttributes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":{"directionalUse":"40","laneType":{"vehicle":"00"},"sharedWith":"100 0"},"laneID":9,"nodeList":{"nodes":[{"delta":{"node-XY3":{"x":988,"y":575}}},{"delta":{"node-XY4":{"x ":-314,"y":2418}}},{"delta":{"node-XY4":{"x":-312,"y":2726}}},{"delta":{"node-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LatLon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":{"lat":42519651 3,"lon":-830469748}}},{"delta":{"node-XY4":{"x":-217,"y":2429}}}]}},{"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laneAttributes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":{"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directionalUs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e":"40","laneType":{"vehicle":"00"},"sharedWith":"1000"},"laneID":10,"nodeList":{"nodes":[{"delta":{" node-XY3":{"x":1352,"y":628}}},{"delta":{"node-XY4":{"x":-315,"y":2418}}},{"delta":{"node-XY4":{"x":- 281,"y":2415}}},{"delta":{"node-XY3":{"x":-188,"y":1819}}},{"delta":{"node-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LatLon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":{"lat":425199014,"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lon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":-830469603}}}]}},{"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laneAttributes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":{"directionalUse":"40","laneType":{"vehicle":"00"},"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sharedWit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h":"1000"},"laneID":11,"nodeList":{"nodes":[{"delta":{"node-XY3":{"x":1712,"y":681}}},{"delta":{"node -XY4":{"x":-276,"y":2116}}},{"delta":{"node-XY4":{"x":-349,"y":3028}}},{"delta":{"node-XY3":{"x":-155 ,"y":1516}}},{"delta":{"node-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LatLon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":{"lat":425199067,"lon":-830469158}}}]}}],"laneWidth":366,"refPoi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nt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":{"elevation":1879,"lat":425190000,"long":-830470000},"revision":1}],"layerID":1,"layerType":"inte rsectionData","msgIssueRevision":1}}}</a:t>
            </a:r>
          </a:p>
        </p:txBody>
      </p:sp>
    </p:spTree>
    <p:extLst>
      <p:ext uri="{BB962C8B-B14F-4D97-AF65-F5344CB8AC3E}">
        <p14:creationId xmlns:p14="http://schemas.microsoft.com/office/powerpoint/2010/main" val="5170993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5C92F-F457-424A-9DE0-7926F7D2C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62486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SPAT sample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25ED7C-0BF5-4EF3-922D-A8B658AF1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7612"/>
            <a:ext cx="10515600" cy="51493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{"Timestamp":1597167252195,"Direction":"RX","Message_id":19,"P1609dot2_flag":0,"Message":{"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messageId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" :19,"value":{"intersections":[{"id":{"id":782},"revision":4,"states":[{"signalGroup":1,"state-time-sp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eed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":[{"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eventState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":"stop-And-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Remain","timing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":{"maxEndTime":20294,"minEndTime":36001}}]},{"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signalGro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up":2,"state-time-speed":[{"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eventState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":"stop-And-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Remain","timing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":{"maxEndTime":20603,"minEndTime":2 0603}}]},{"signalGroup":3,"state-time-speed":[{"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eventState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":"stop-And-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Remain","timing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":{"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maxEndTime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": 20294,"minEndTime":36001}}]},{"signalGroup":4,"state-time-speed":[{"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eventState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":"permissive-Movement-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Allowed","timing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":{"maxEndTime":20545,"minEndTime":20545}}]},{"signalGroup":6,"state-time-speed":[{"e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ventState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":"stop-And-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Remain","timing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":{"maxEndTime":20294,"minEndTime":36001}}]},{"signalGroup":7,"st ate-time-speed":[{"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eventState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":"stop-And-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Remain","timing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":{"maxEndTime":20294,"minEndTime":36001}}]}, {"signalGroup":8,"state-time-speed":[{"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eventState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":"stop-And-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Remain","timing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":{"maxEndTime":20294,"mi nEndTime":36001}}]}],"status":"0080"}]}},"Version":"1.0"}</a:t>
            </a:r>
          </a:p>
        </p:txBody>
      </p:sp>
    </p:spTree>
    <p:extLst>
      <p:ext uri="{BB962C8B-B14F-4D97-AF65-F5344CB8AC3E}">
        <p14:creationId xmlns:p14="http://schemas.microsoft.com/office/powerpoint/2010/main" val="15761665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5C92F-F457-424A-9DE0-7926F7D2C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62486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BSM sample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25ED7C-0BF5-4EF3-922D-A8B658AF1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7612"/>
            <a:ext cx="10515600" cy="51493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{"Timestamp":1602096334182,"Direction":"RX","Message_id":20,"P1609dot2_flag":0,"Message":{"messageId":20,"value":{"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coreData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":{"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accelSet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":{"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":-7,"long":24,"vert":-127,"yaw":-40},"accuracy":{"orientation":0,"semiMajor":5,"semiMinor":5},"angle":28,"brakes":{"abs":"engaged","auxBrakes":"unavailable","brakeBoost":"unavailable","scs":"engaged","traction":"engaged","wheelBrakes":"00"},"elev":1508,"heading ":1993,"id":"06230106","lat":425686803,"long":-829123338,"msgCnt":110,"secMark":34100,"size":{"length ":504,"width":196},"speed":0,"transmission":"park"},"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partII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":[{"partII-Id":0,"partII-Value":{"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pathHis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tory":{"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crumbData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":[{"elevationOffset":5,"latOffset":930,"lonOffset":742,"timeOffset":2230},{"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elevati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onOffset":9,"latOffset":930,"lonOffset":2164,"timeOffset":2610},{"elevationOffset":11,"latOffset":123 6,"lonOffset":2917,"timeOffset":2760},{"elevationOffset":11,"latOffset":8992,"lonOffset":9400,"timeOf fset":3600},{"elevationOffset":8,"latOffset":25129,"lonOffset":21801,"timeOffset":4780}]},"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pathPredic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tion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":{"confidence":200,"radiusOfCurve":32767}}}]}},"Version":"1.0"}</a:t>
            </a:r>
          </a:p>
        </p:txBody>
      </p:sp>
    </p:spTree>
    <p:extLst>
      <p:ext uri="{BB962C8B-B14F-4D97-AF65-F5344CB8AC3E}">
        <p14:creationId xmlns:p14="http://schemas.microsoft.com/office/powerpoint/2010/main" val="42076920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376</TotalTime>
  <Words>3769</Words>
  <Application>Microsoft Office PowerPoint</Application>
  <PresentationFormat>Widescreen</PresentationFormat>
  <Paragraphs>272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Calibri Light</vt:lpstr>
      <vt:lpstr>Courier New</vt:lpstr>
      <vt:lpstr>Office Theme</vt:lpstr>
      <vt:lpstr>NTCNA V2 V2X OTA PCAP Format Decoding to JSON</vt:lpstr>
      <vt:lpstr>Introduction</vt:lpstr>
      <vt:lpstr>V2X PCAP Recording Rules</vt:lpstr>
      <vt:lpstr>Standardizing how we capture data</vt:lpstr>
      <vt:lpstr>PCAP 0x88DC Ethertype</vt:lpstr>
      <vt:lpstr>Full Radio Stack Capture (DSRC)</vt:lpstr>
      <vt:lpstr>Full Radio Stack Capture (C-V2X)</vt:lpstr>
      <vt:lpstr>UDP V2X Stack Capture (C-V2X or DSRC)</vt:lpstr>
      <vt:lpstr>UDP V2X Stack Capture (DSRC) Tazman</vt:lpstr>
      <vt:lpstr>The CAMP/TOSCo/CI/CTIC JSON Format for J2735</vt:lpstr>
      <vt:lpstr>Python and Pycrate</vt:lpstr>
      <vt:lpstr>Tool options</vt:lpstr>
      <vt:lpstr>The GUI Application</vt:lpstr>
      <vt:lpstr>Using the tool</vt:lpstr>
      <vt:lpstr>Command line version</vt:lpstr>
      <vt:lpstr>Building the Application</vt:lpstr>
      <vt:lpstr>Linux Installation</vt:lpstr>
      <vt:lpstr>Windows Installation</vt:lpstr>
      <vt:lpstr>The Gory Details</vt:lpstr>
      <vt:lpstr>Other Tools</vt:lpstr>
      <vt:lpstr>Wireshark</vt:lpstr>
      <vt:lpstr>MAP sample</vt:lpstr>
      <vt:lpstr>SPAT sample</vt:lpstr>
      <vt:lpstr>BSM sample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NTCNA PCAP Decoder JSON Converter</dc:title>
  <dc:creator>Neal Probert</dc:creator>
  <cp:lastModifiedBy>Probert, Neal</cp:lastModifiedBy>
  <cp:revision>76</cp:revision>
  <dcterms:created xsi:type="dcterms:W3CDTF">2021-05-07T15:03:31Z</dcterms:created>
  <dcterms:modified xsi:type="dcterms:W3CDTF">2026-05-29T15:30:12Z</dcterms:modified>
</cp:coreProperties>
</file>